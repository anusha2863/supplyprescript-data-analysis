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02920"/>
            <a:ext cx="11155680" cy="5715000"/>
          </a:xfrm>
          <a:prstGeom prst="roundRect">
            <a:avLst/>
          </a:prstGeom>
          <a:solidFill>
            <a:srgbClr val="071423"/>
          </a:solidFill>
          <a:ln w="10160">
            <a:solidFill>
              <a:srgbClr val="172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24128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  <a:latin typeface="Aptos"/>
              </a:rPr>
              <a:t>SUPPLYPRESCRIPT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81328"/>
            <a:ext cx="6583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3F8FC"/>
                </a:solidFill>
                <a:latin typeface="Aptos"/>
              </a:rPr>
              <a:t>Supply Chain
Intelligence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6583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748AA2"/>
                </a:solidFill>
                <a:latin typeface="Aptos"/>
              </a:rPr>
              <a:t>Data-driven visibility for products, inventory, suppliers,
logistics, manufacturing, quality and operational risk.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977639"/>
            <a:ext cx="1234440" cy="283464"/>
          </a:xfrm>
          <a:prstGeom prst="roundRect">
            <a:avLst/>
          </a:prstGeom>
          <a:solidFill>
            <a:srgbClr val="09192A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986783"/>
            <a:ext cx="123444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38BDF8"/>
                </a:solidFill>
                <a:latin typeface="Aptos"/>
              </a:rPr>
              <a:t>React + Vite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76272" y="3977639"/>
            <a:ext cx="960120" cy="283464"/>
          </a:xfrm>
          <a:prstGeom prst="roundRect">
            <a:avLst/>
          </a:prstGeom>
          <a:solidFill>
            <a:srgbClr val="09192A"/>
          </a:solidFill>
          <a:ln w="1016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76272" y="3986783"/>
            <a:ext cx="9601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D4BF"/>
                </a:solidFill>
                <a:latin typeface="Aptos"/>
              </a:rPr>
              <a:t>FastAPI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3977639"/>
            <a:ext cx="1188720" cy="283464"/>
          </a:xfrm>
          <a:prstGeom prst="roundRect">
            <a:avLst/>
          </a:prstGeom>
          <a:solidFill>
            <a:srgbClr val="09192A"/>
          </a:solidFill>
          <a:ln w="1016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3986783"/>
            <a:ext cx="11887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8B5CF6"/>
                </a:solidFill>
                <a:latin typeface="Aptos"/>
              </a:rPr>
              <a:t>PostgreSQL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53712" y="3977639"/>
            <a:ext cx="1325880" cy="283464"/>
          </a:xfrm>
          <a:prstGeom prst="roundRect">
            <a:avLst/>
          </a:prstGeom>
          <a:solidFill>
            <a:srgbClr val="09192A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3986783"/>
            <a:ext cx="13258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59E0B"/>
                </a:solidFill>
                <a:latin typeface="Aptos"/>
              </a:rPr>
              <a:t>Random Forest</a:t>
            </a:r>
          </a:p>
        </p:txBody>
      </p:sp>
      <p:pic>
        <p:nvPicPr>
          <p:cNvPr id="14" name="Picture 13" descr="1000145578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987552"/>
            <a:ext cx="3657600" cy="41605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2960" y="49834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DDCEB"/>
                </a:solidFill>
                <a:latin typeface="Aptos"/>
              </a:rPr>
              <a:t>Project Presentation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321808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748AA2"/>
                </a:solidFill>
                <a:latin typeface="Aptos"/>
              </a:rPr>
              <a:t>SupplyPrescript – Supply Chain Performance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9672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48AA2"/>
                </a:solidFill>
                <a:latin typeface="Aptos"/>
              </a:rPr>
              <a:t>SUPPLYPRESCRIPT  •  SUPPLY CHAIN 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748AA2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Aptos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3F8FC"/>
                </a:solidFill>
                <a:latin typeface="Aptos"/>
              </a:rPr>
              <a:t>One operating view of the supply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48AA2"/>
                </a:solidFill>
                <a:latin typeface="Aptos"/>
              </a:rPr>
              <a:t>The dashboard consolidates operational data into a single decision-support layer.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2514600" cy="118872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172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874519"/>
            <a:ext cx="50292" cy="1188720"/>
          </a:xfrm>
          <a:prstGeom prst="rect">
            <a:avLst/>
          </a:prstGeom>
          <a:solidFill>
            <a:srgbClr val="38BDF8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039112"/>
            <a:ext cx="2194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748AA2"/>
                </a:solidFill>
                <a:latin typeface="Aptos"/>
              </a:rPr>
              <a:t>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331720"/>
            <a:ext cx="2194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3F8FC"/>
                </a:solidFill>
                <a:latin typeface="Aptos"/>
              </a:rPr>
              <a:t>100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788920"/>
            <a:ext cx="21945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748AA2"/>
                </a:solidFill>
                <a:latin typeface="Aptos"/>
              </a:rPr>
              <a:t>24 source columns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874519"/>
            <a:ext cx="2514600" cy="118872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172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874519"/>
            <a:ext cx="50292" cy="1188720"/>
          </a:xfrm>
          <a:prstGeom prst="rect">
            <a:avLst/>
          </a:prstGeom>
          <a:solidFill>
            <a:srgbClr val="8B5CF6"/>
          </a:solidFill>
          <a:ln w="1016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93008" y="2039112"/>
            <a:ext cx="2194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748AA2"/>
                </a:solidFill>
                <a:latin typeface="Aptos"/>
              </a:rPr>
              <a:t>PAGES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008" y="2331720"/>
            <a:ext cx="2194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3F8FC"/>
                </a:solidFill>
                <a:latin typeface="Aptos"/>
              </a:rPr>
              <a:t>8 modules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8" y="2788920"/>
            <a:ext cx="21945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748AA2"/>
                </a:solidFill>
                <a:latin typeface="Aptos"/>
              </a:rPr>
              <a:t>Executive + functional views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874519"/>
            <a:ext cx="2514600" cy="118872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172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89320" y="1874519"/>
            <a:ext cx="50292" cy="1188720"/>
          </a:xfrm>
          <a:prstGeom prst="rect">
            <a:avLst/>
          </a:prstGeom>
          <a:solidFill>
            <a:srgbClr val="2DD4BF"/>
          </a:solidFill>
          <a:ln w="1016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0488" y="2039112"/>
            <a:ext cx="2194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748AA2"/>
                </a:solidFill>
                <a:latin typeface="Aptos"/>
              </a:rPr>
              <a:t>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0488" y="2331720"/>
            <a:ext cx="2194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3F8FC"/>
                </a:solidFill>
                <a:latin typeface="Aptos"/>
              </a:rPr>
              <a:t>FastAPI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0488" y="2788920"/>
            <a:ext cx="21945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748AA2"/>
                </a:solidFill>
                <a:latin typeface="Aptos"/>
              </a:rPr>
              <a:t>REST endpoints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0" y="1874519"/>
            <a:ext cx="2514600" cy="118872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172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0" y="1874519"/>
            <a:ext cx="50292" cy="1188720"/>
          </a:xfrm>
          <a:prstGeom prst="rect">
            <a:avLst/>
          </a:prstGeom>
          <a:solidFill>
            <a:srgbClr val="F59E0B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87968" y="2039112"/>
            <a:ext cx="2194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748AA2"/>
                </a:solidFill>
                <a:latin typeface="Aptos"/>
              </a:rPr>
              <a:t>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8" y="2331720"/>
            <a:ext cx="2194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3F8FC"/>
                </a:solidFill>
                <a:latin typeface="Aptos"/>
              </a:rPr>
              <a:t>Random Forest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87968" y="2788920"/>
            <a:ext cx="21945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748AA2"/>
                </a:solidFill>
                <a:latin typeface="Aptos"/>
              </a:rPr>
              <a:t>Risk prediction service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429000"/>
            <a:ext cx="5394960" cy="233172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172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6576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3F8FC"/>
                </a:solidFill>
                <a:latin typeface="Aptos"/>
              </a:rPr>
              <a:t>Core coverage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4041648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CDDCEB"/>
                </a:solidFill>
                <a:latin typeface="Aptos"/>
              </a:defRPr>
            </a:pPr>
            <a:r>
              <a:t>• Products and demand</a:t>
            </a:r>
          </a:p>
          <a:p>
            <a:pPr>
              <a:spcAft>
                <a:spcPts val="700"/>
              </a:spcAft>
              <a:defRPr sz="1100">
                <a:solidFill>
                  <a:srgbClr val="CDDCEB"/>
                </a:solidFill>
                <a:latin typeface="Aptos"/>
              </a:defRPr>
            </a:pPr>
            <a:r>
              <a:t>• Inventory health and stock risk</a:t>
            </a:r>
          </a:p>
          <a:p>
            <a:pPr>
              <a:spcAft>
                <a:spcPts val="700"/>
              </a:spcAft>
              <a:defRPr sz="1100">
                <a:solidFill>
                  <a:srgbClr val="CDDCEB"/>
                </a:solidFill>
                <a:latin typeface="Aptos"/>
              </a:defRPr>
            </a:pPr>
            <a:r>
              <a:t>• Supplier performance and segmentation</a:t>
            </a:r>
          </a:p>
          <a:p>
            <a:pPr>
              <a:spcAft>
                <a:spcPts val="700"/>
              </a:spcAft>
              <a:defRPr sz="1100">
                <a:solidFill>
                  <a:srgbClr val="CDDCEB"/>
                </a:solidFill>
                <a:latin typeface="Aptos"/>
              </a:defRPr>
            </a:pPr>
            <a:r>
              <a:t>• Logistics and shipping efficiency</a:t>
            </a:r>
          </a:p>
          <a:p>
            <a:pPr>
              <a:spcAft>
                <a:spcPts val="700"/>
              </a:spcAft>
              <a:defRPr sz="1100">
                <a:solidFill>
                  <a:srgbClr val="CDDCEB"/>
                </a:solidFill>
                <a:latin typeface="Aptos"/>
              </a:defRPr>
            </a:pPr>
            <a:r>
              <a:t>• Manufacturing cost and production</a:t>
            </a:r>
          </a:p>
          <a:p>
            <a:pPr>
              <a:spcAft>
                <a:spcPts val="700"/>
              </a:spcAft>
              <a:defRPr sz="1100">
                <a:solidFill>
                  <a:srgbClr val="CDDCEB"/>
                </a:solidFill>
                <a:latin typeface="Aptos"/>
              </a:defRPr>
            </a:pPr>
            <a:r>
              <a:t>• Quality and inspection outcomes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429000"/>
            <a:ext cx="5303520" cy="233172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172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6576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3F8FC"/>
                </a:solidFill>
                <a:latin typeface="Aptos"/>
              </a:rPr>
              <a:t>Decision layer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041648"/>
            <a:ext cx="4709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CDDCEB"/>
                </a:solidFill>
                <a:latin typeface="Aptos"/>
              </a:defRPr>
            </a:pPr>
            <a:r>
              <a:t>• Rule-based supply-chain risk scoring</a:t>
            </a:r>
          </a:p>
          <a:p>
            <a:pPr>
              <a:spcAft>
                <a:spcPts val="700"/>
              </a:spcAft>
              <a:defRPr sz="1100">
                <a:solidFill>
                  <a:srgbClr val="CDDCEB"/>
                </a:solidFill>
                <a:latin typeface="Aptos"/>
              </a:defRPr>
            </a:pPr>
            <a:r>
              <a:t>• Random Forest ML risk predictions</a:t>
            </a:r>
          </a:p>
          <a:p>
            <a:pPr>
              <a:spcAft>
                <a:spcPts val="700"/>
              </a:spcAft>
              <a:defRPr sz="1100">
                <a:solidFill>
                  <a:srgbClr val="CDDCEB"/>
                </a:solidFill>
                <a:latin typeface="Aptos"/>
              </a:defRPr>
            </a:pPr>
            <a:r>
              <a:t>• Statistical anomaly alerts</a:t>
            </a:r>
          </a:p>
          <a:p>
            <a:pPr>
              <a:spcAft>
                <a:spcPts val="700"/>
              </a:spcAft>
              <a:defRPr sz="1100">
                <a:solidFill>
                  <a:srgbClr val="CDDCEB"/>
                </a:solidFill>
                <a:latin typeface="Aptos"/>
              </a:defRPr>
            </a:pPr>
            <a:r>
              <a:t>• Operational recommendations</a:t>
            </a:r>
          </a:p>
          <a:p>
            <a:pPr>
              <a:spcAft>
                <a:spcPts val="700"/>
              </a:spcAft>
              <a:defRPr sz="1100">
                <a:solidFill>
                  <a:srgbClr val="CDDCEB"/>
                </a:solidFill>
                <a:latin typeface="Aptos"/>
              </a:defRPr>
            </a:pPr>
            <a:r>
              <a:t>• Filter-driven views by product, supplier and 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9672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48AA2"/>
                </a:solidFill>
                <a:latin typeface="Aptos"/>
              </a:rPr>
              <a:t>SUPPLYPRESCRIPT  •  SUPPLY CHAIN INTELLIGENCE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748AA2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Aptos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3F8FC"/>
                </a:solidFill>
                <a:latin typeface="Aptos"/>
              </a:rPr>
              <a:t>Why SupplyPrescript?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48AA2"/>
                </a:solidFill>
                <a:latin typeface="Aptos"/>
              </a:rPr>
              <a:t>Supply-chain teams need faster visibility across fragmented operational signals.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10789920" cy="100584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8FC"/>
                </a:solidFill>
                <a:latin typeface="Aptos"/>
              </a:rPr>
              <a:t>Fragmented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993392"/>
            <a:ext cx="7955279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48AA2"/>
                </a:solidFill>
                <a:latin typeface="Aptos"/>
              </a:rPr>
              <a:t>Product, stock, supplier, delivery, production and quality signals are difficult to view together.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154680"/>
            <a:ext cx="10789920" cy="100584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33756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8FC"/>
                </a:solidFill>
                <a:latin typeface="Aptos"/>
              </a:rPr>
              <a:t>Hidden operational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3319272"/>
            <a:ext cx="7955279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48AA2"/>
                </a:solidFill>
                <a:latin typeface="Aptos"/>
              </a:rPr>
              <a:t>Low stock, delays, defects and cost pressure can appear separately even when they affect the same SKU.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480560"/>
            <a:ext cx="10789920" cy="100584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66344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8FC"/>
                </a:solidFill>
                <a:latin typeface="Aptos"/>
              </a:rPr>
              <a:t>Slow decision cycles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4645152"/>
            <a:ext cx="7955279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48AA2"/>
                </a:solidFill>
                <a:latin typeface="Aptos"/>
              </a:rPr>
              <a:t>Static tables alone make it harder to prioritize which records need attention first.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48AA2"/>
                </a:solidFill>
                <a:latin typeface="Aptos"/>
              </a:rPr>
              <a:t>SUPPLYPRESCRIPT  •  SUPPLY CHAIN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748AA2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Aptos"/>
              </a:rP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3F8FC"/>
                </a:solidFill>
                <a:latin typeface="Aptos"/>
              </a:rPr>
              <a:t>From raw records to actionable visibility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48AA2"/>
                </a:solidFill>
                <a:latin typeface="Aptos"/>
              </a:rPr>
              <a:t>The implementation focuses on transparent analytics rather than black-box decisions.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3337560" cy="141732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96596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26771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3F8FC"/>
                </a:solidFill>
                <a:latin typeface="Aptos"/>
              </a:rPr>
              <a:t>Unify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60604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748AA2"/>
                </a:solidFill>
                <a:latin typeface="Aptos"/>
              </a:rPr>
              <a:t>Bring major supply-chain functions into one dashboard.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828800"/>
            <a:ext cx="3337560" cy="141732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96596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B5CF6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226771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3F8FC"/>
                </a:solidFill>
                <a:latin typeface="Aptos"/>
              </a:rPr>
              <a:t>Analyze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260604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748AA2"/>
                </a:solidFill>
                <a:latin typeface="Aptos"/>
              </a:rPr>
              <a:t>Use descriptive analytics, comparisons and trends to expose operational patterns.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828800"/>
            <a:ext cx="3337560" cy="141732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1" y="196596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43F5E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226771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3F8FC"/>
                </a:solidFill>
                <a:latin typeface="Aptos"/>
              </a:rPr>
              <a:t>Prioritize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260604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748AA2"/>
                </a:solidFill>
                <a:latin typeface="Aptos"/>
              </a:rPr>
              <a:t>Calculate transparent rule-based risk scores for operational attention.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657600"/>
            <a:ext cx="3337560" cy="141732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379476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409651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3F8FC"/>
                </a:solidFill>
                <a:latin typeface="Aptos"/>
              </a:rPr>
              <a:t>Predict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443484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748AA2"/>
                </a:solidFill>
                <a:latin typeface="Aptos"/>
              </a:rPr>
              <a:t>Use a Random Forest model to estimate ML risk scores.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657600"/>
            <a:ext cx="3337560" cy="141732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07992" y="379476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7992" y="409651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3F8FC"/>
                </a:solidFill>
                <a:latin typeface="Aptos"/>
              </a:rPr>
              <a:t>Alert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7992" y="443484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748AA2"/>
                </a:solidFill>
                <a:latin typeface="Aptos"/>
              </a:rPr>
              <a:t>Surface statistical anomalies in inventory, shipping and manufacturing cost.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3657600"/>
            <a:ext cx="3337560" cy="141732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57031" y="379476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ACC15"/>
                </a:solidFill>
                <a:latin typeface="Aptos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7031" y="409651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3F8FC"/>
                </a:solidFill>
                <a:latin typeface="Aptos"/>
              </a:rPr>
              <a:t>Recommend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7031" y="443484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748AA2"/>
                </a:solidFill>
                <a:latin typeface="Aptos"/>
              </a:rPr>
              <a:t>Turn risk and anomaly signals into practical review actions.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19672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48AA2"/>
                </a:solidFill>
                <a:latin typeface="Aptos"/>
              </a:rPr>
              <a:t>SUPPLYPRESCRIPT  •  SUPPLY CHAIN INTELLIGENCE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748AA2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Aptos"/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3F8FC"/>
                </a:solidFill>
                <a:latin typeface="Aptos"/>
              </a:rPr>
              <a:t>Dataset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48AA2"/>
                </a:solidFill>
                <a:latin typeface="Aptos"/>
              </a:rPr>
              <a:t>The dashboard works with the supplied 100-row, 24-column supply-chain dataset.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743200" cy="118872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172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50292" cy="1188720"/>
          </a:xfrm>
          <a:prstGeom prst="rect">
            <a:avLst/>
          </a:prstGeom>
          <a:solidFill>
            <a:srgbClr val="38BDF8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993392"/>
            <a:ext cx="2423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748AA2"/>
                </a:solidFill>
                <a:latin typeface="Aptos"/>
              </a:rPr>
              <a:t>ROWS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286000"/>
            <a:ext cx="2423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3F8FC"/>
                </a:solidFill>
                <a:latin typeface="Aptos"/>
              </a:rPr>
              <a:t>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743200"/>
            <a:ext cx="24231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748AA2"/>
                </a:solidFill>
                <a:latin typeface="Aptos"/>
              </a:rPr>
              <a:t>Source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1828800"/>
            <a:ext cx="2743200" cy="118872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172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11880" y="1828800"/>
            <a:ext cx="50292" cy="1188720"/>
          </a:xfrm>
          <a:prstGeom prst="rect">
            <a:avLst/>
          </a:prstGeom>
          <a:solidFill>
            <a:srgbClr val="8B5CF6"/>
          </a:solidFill>
          <a:ln w="1016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3048" y="1993392"/>
            <a:ext cx="2423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748AA2"/>
                </a:solidFill>
                <a:latin typeface="Aptos"/>
              </a:rPr>
              <a:t>COLUMNS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3048" y="2286000"/>
            <a:ext cx="2423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3F8FC"/>
                </a:solidFill>
                <a:latin typeface="Aptos"/>
              </a:rPr>
              <a:t>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3048" y="2743200"/>
            <a:ext cx="24231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748AA2"/>
                </a:solidFill>
                <a:latin typeface="Aptos"/>
              </a:rPr>
              <a:t>Operational attributes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1828800"/>
            <a:ext cx="2743200" cy="118872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172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0" y="1828800"/>
            <a:ext cx="50292" cy="1188720"/>
          </a:xfrm>
          <a:prstGeom prst="rect">
            <a:avLst/>
          </a:prstGeom>
          <a:solidFill>
            <a:srgbClr val="2DD4BF"/>
          </a:solidFill>
          <a:ln w="1016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84848" y="1993392"/>
            <a:ext cx="2423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748AA2"/>
                </a:solidFill>
                <a:latin typeface="Aptos"/>
              </a:rPr>
              <a:t>KEY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48" y="2286000"/>
            <a:ext cx="2423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3F8FC"/>
                </a:solidFill>
                <a:latin typeface="Aptos"/>
              </a:rPr>
              <a:t>SKU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4848" y="2743200"/>
            <a:ext cx="24231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748AA2"/>
                </a:solidFill>
                <a:latin typeface="Aptos"/>
              </a:rPr>
              <a:t>Record identifier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55480" y="1828800"/>
            <a:ext cx="1965960" cy="118872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65792" y="1993392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48AA2"/>
                </a:solidFill>
                <a:latin typeface="Aptos"/>
              </a:rPr>
              <a:t>SCOPE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65792" y="2304288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8FC"/>
                </a:solidFill>
                <a:latin typeface="Aptos"/>
              </a:rPr>
              <a:t>Operations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65792" y="2615184"/>
            <a:ext cx="1508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748AA2"/>
                </a:solidFill>
                <a:latin typeface="Aptos"/>
              </a:rPr>
              <a:t>sales • stock • supplier • logistics • quality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383280"/>
            <a:ext cx="5257800" cy="214884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172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36118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8FC"/>
                </a:solidFill>
                <a:latin typeface="Aptos"/>
              </a:rPr>
              <a:t>Commercial &amp; inventory fields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402336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CDDCEB"/>
                </a:solidFill>
                <a:latin typeface="Aptos"/>
              </a:defRPr>
            </a:pPr>
            <a:r>
              <a:t>• Product type, SKU, price, availability</a:t>
            </a:r>
          </a:p>
          <a:p>
            <a:pPr>
              <a:spcAft>
                <a:spcPts val="700"/>
              </a:spcAft>
              <a:defRPr sz="1100">
                <a:solidFill>
                  <a:srgbClr val="CDDCEB"/>
                </a:solidFill>
                <a:latin typeface="Aptos"/>
              </a:defRPr>
            </a:pPr>
            <a:r>
              <a:t>• Products sold and revenue generated</a:t>
            </a:r>
          </a:p>
          <a:p>
            <a:pPr>
              <a:spcAft>
                <a:spcPts val="700"/>
              </a:spcAft>
              <a:defRPr sz="1100">
                <a:solidFill>
                  <a:srgbClr val="CDDCEB"/>
                </a:solidFill>
                <a:latin typeface="Aptos"/>
              </a:defRPr>
            </a:pPr>
            <a:r>
              <a:t>• Stock levels, lead times and order quantities</a:t>
            </a:r>
          </a:p>
          <a:p>
            <a:pPr>
              <a:spcAft>
                <a:spcPts val="700"/>
              </a:spcAft>
              <a:defRPr sz="1100">
                <a:solidFill>
                  <a:srgbClr val="CDDCEB"/>
                </a:solidFill>
                <a:latin typeface="Aptos"/>
              </a:defRPr>
            </a:pPr>
            <a:r>
              <a:t>• Customer demographics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3383280"/>
            <a:ext cx="5394960" cy="214884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172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361188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8FC"/>
                </a:solidFill>
                <a:latin typeface="Aptos"/>
              </a:rPr>
              <a:t>Supplier, logistics &amp; operations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2512" y="402336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CDDCEB"/>
                </a:solidFill>
                <a:latin typeface="Aptos"/>
              </a:defRPr>
            </a:pPr>
            <a:r>
              <a:t>• Supplier name and location</a:t>
            </a:r>
          </a:p>
          <a:p>
            <a:pPr>
              <a:spcAft>
                <a:spcPts val="700"/>
              </a:spcAft>
              <a:defRPr sz="1100">
                <a:solidFill>
                  <a:srgbClr val="CDDCEB"/>
                </a:solidFill>
                <a:latin typeface="Aptos"/>
              </a:defRPr>
            </a:pPr>
            <a:r>
              <a:t>• Shipping time, carrier, cost, mode and route</a:t>
            </a:r>
          </a:p>
          <a:p>
            <a:pPr>
              <a:spcAft>
                <a:spcPts val="700"/>
              </a:spcAft>
              <a:defRPr sz="1100">
                <a:solidFill>
                  <a:srgbClr val="CDDCEB"/>
                </a:solidFill>
                <a:latin typeface="Aptos"/>
              </a:defRPr>
            </a:pPr>
            <a:r>
              <a:t>• Production volume and manufacturing cost/lead time</a:t>
            </a:r>
          </a:p>
          <a:p>
            <a:pPr>
              <a:spcAft>
                <a:spcPts val="700"/>
              </a:spcAft>
              <a:defRPr sz="1100">
                <a:solidFill>
                  <a:srgbClr val="CDDCEB"/>
                </a:solidFill>
                <a:latin typeface="Aptos"/>
              </a:defRPr>
            </a:pPr>
            <a:r>
              <a:t>• Inspection results and defect rates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9672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48AA2"/>
                </a:solidFill>
                <a:latin typeface="Aptos"/>
              </a:rPr>
              <a:t>SUPPLYPRESCRIPT  •  SUPPLY CHAIN INTELLIGENCE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748AA2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Aptos"/>
              </a:rP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3F8FC"/>
                </a:solidFill>
                <a:latin typeface="Aptos"/>
              </a:rPr>
              <a:t>Data-to-decision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48AA2"/>
                </a:solidFill>
                <a:latin typeface="Aptos"/>
              </a:rPr>
              <a:t>The application combines preprocessing, analytics, APIs and model outputs.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240280"/>
            <a:ext cx="1600200" cy="132588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2395728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7432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3F8FC"/>
                </a:solidFill>
                <a:latin typeface="Aptos"/>
              </a:rPr>
              <a:t>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310896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748AA2"/>
                </a:solidFill>
                <a:latin typeface="Aptos"/>
              </a:rPr>
              <a:t>CSV / database</a:t>
            </a:r>
          </a:p>
        </p:txBody>
      </p:sp>
      <p:sp>
        <p:nvSpPr>
          <p:cNvPr id="9" name="Chevron 8"/>
          <p:cNvSpPr/>
          <p:nvPr/>
        </p:nvSpPr>
        <p:spPr>
          <a:xfrm>
            <a:off x="2148840" y="2697480"/>
            <a:ext cx="228600" cy="320040"/>
          </a:xfrm>
          <a:prstGeom prst="chevron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404872" y="2240280"/>
            <a:ext cx="1600200" cy="132588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14600" y="2395728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B5CF6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27432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3F8FC"/>
                </a:solidFill>
                <a:latin typeface="Aptos"/>
              </a:rPr>
              <a:t>Prepare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310896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748AA2"/>
                </a:solidFill>
                <a:latin typeface="Aptos"/>
              </a:rPr>
              <a:t>Clean + transform</a:t>
            </a:r>
          </a:p>
        </p:txBody>
      </p:sp>
      <p:sp>
        <p:nvSpPr>
          <p:cNvPr id="14" name="Chevron 13"/>
          <p:cNvSpPr/>
          <p:nvPr/>
        </p:nvSpPr>
        <p:spPr>
          <a:xfrm>
            <a:off x="4050791" y="2697480"/>
            <a:ext cx="228600" cy="320040"/>
          </a:xfrm>
          <a:prstGeom prst="chevron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06824" y="2240280"/>
            <a:ext cx="1600200" cy="132588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2395728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27432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3F8FC"/>
                </a:solidFill>
                <a:latin typeface="Aptos"/>
              </a:rPr>
              <a:t>Analyze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310896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748AA2"/>
                </a:solidFill>
                <a:latin typeface="Aptos"/>
              </a:rPr>
              <a:t>KPIs + EDA + groups</a:t>
            </a:r>
          </a:p>
        </p:txBody>
      </p:sp>
      <p:sp>
        <p:nvSpPr>
          <p:cNvPr id="19" name="Chevron 18"/>
          <p:cNvSpPr/>
          <p:nvPr/>
        </p:nvSpPr>
        <p:spPr>
          <a:xfrm>
            <a:off x="5952744" y="2697480"/>
            <a:ext cx="228600" cy="320040"/>
          </a:xfrm>
          <a:prstGeom prst="chevron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08776" y="2240280"/>
            <a:ext cx="1600200" cy="132588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18504" y="2395728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8504" y="27432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3F8FC"/>
                </a:solidFill>
                <a:latin typeface="Aptos"/>
              </a:rPr>
              <a:t>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8504" y="310896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748AA2"/>
                </a:solidFill>
                <a:latin typeface="Aptos"/>
              </a:rPr>
              <a:t>Rules + anomalies</a:t>
            </a:r>
          </a:p>
        </p:txBody>
      </p:sp>
      <p:sp>
        <p:nvSpPr>
          <p:cNvPr id="24" name="Chevron 23"/>
          <p:cNvSpPr/>
          <p:nvPr/>
        </p:nvSpPr>
        <p:spPr>
          <a:xfrm>
            <a:off x="7854696" y="2697480"/>
            <a:ext cx="228600" cy="320040"/>
          </a:xfrm>
          <a:prstGeom prst="chevron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10728" y="2240280"/>
            <a:ext cx="1600200" cy="132588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0456" y="2395728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43F5E"/>
                </a:solidFill>
                <a:latin typeface="Apto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0456" y="27432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3F8FC"/>
                </a:solidFill>
                <a:latin typeface="Aptos"/>
              </a:rPr>
              <a:t>Predict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0456" y="310896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748AA2"/>
                </a:solidFill>
                <a:latin typeface="Aptos"/>
              </a:rPr>
              <a:t>Random Forest ML</a:t>
            </a:r>
          </a:p>
        </p:txBody>
      </p:sp>
      <p:sp>
        <p:nvSpPr>
          <p:cNvPr id="29" name="Chevron 28"/>
          <p:cNvSpPr/>
          <p:nvPr/>
        </p:nvSpPr>
        <p:spPr>
          <a:xfrm>
            <a:off x="9756648" y="2697480"/>
            <a:ext cx="228600" cy="320040"/>
          </a:xfrm>
          <a:prstGeom prst="chevron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012680" y="2240280"/>
            <a:ext cx="1600200" cy="132588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22408" y="2395728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Apto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22408" y="27432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3F8FC"/>
                </a:solidFill>
                <a:latin typeface="Aptos"/>
              </a:rPr>
              <a:t>Present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22408" y="310896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748AA2"/>
                </a:solidFill>
                <a:latin typeface="Aptos"/>
              </a:rPr>
              <a:t>React dashboard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68880" y="4160520"/>
            <a:ext cx="7132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8BDF8"/>
                </a:solidFill>
                <a:latin typeface="Aptos"/>
              </a:rPr>
              <a:t>The UI is filter-driven: Product • Supplier • Location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19672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48AA2"/>
                </a:solidFill>
                <a:latin typeface="Aptos"/>
              </a:rPr>
              <a:t>SUPPLYPRESCRIPT  •  SUPPLY CHAIN INTELLIGENCE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748AA2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Aptos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3F8FC"/>
                </a:solidFill>
                <a:latin typeface="Aptos"/>
              </a:rPr>
              <a:t>Application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48AA2"/>
                </a:solidFill>
                <a:latin typeface="Aptos"/>
              </a:rPr>
              <a:t>Two FastAPI services separate operational APIs from the ML prediction service.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2240280" cy="123444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2724912"/>
            <a:ext cx="2057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3F8FC"/>
                </a:solidFill>
                <a:latin typeface="Aptos"/>
              </a:rPr>
              <a:t>React + Vite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3090672"/>
            <a:ext cx="2057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748AA2"/>
                </a:solidFill>
                <a:latin typeface="Aptos"/>
              </a:rPr>
              <a:t>8-page analytics 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468880"/>
            <a:ext cx="2240280" cy="123444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2724912"/>
            <a:ext cx="2057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3F8FC"/>
                </a:solidFill>
                <a:latin typeface="Aptos"/>
              </a:rPr>
              <a:t>FastAPI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3090672"/>
            <a:ext cx="2057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748AA2"/>
                </a:solidFill>
                <a:latin typeface="Aptos"/>
              </a:rPr>
              <a:t>Data + rule 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468880"/>
            <a:ext cx="2240280" cy="123444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59" y="2724912"/>
            <a:ext cx="2057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3F8FC"/>
                </a:solidFill>
                <a:latin typeface="Aptos"/>
              </a:rPr>
              <a:t>PostgreSQL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59" y="3090672"/>
            <a:ext cx="2057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748AA2"/>
                </a:solidFill>
                <a:latin typeface="Aptos"/>
              </a:rPr>
              <a:t>supply_chain_data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2468880"/>
            <a:ext cx="2240280" cy="123444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2724912"/>
            <a:ext cx="2057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3F8FC"/>
                </a:solidFill>
                <a:latin typeface="Aptos"/>
              </a:rPr>
              <a:t>ML FastAPI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3090672"/>
            <a:ext cx="2057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748AA2"/>
                </a:solidFill>
                <a:latin typeface="Aptos"/>
              </a:rPr>
              <a:t>Random Forest risk</a:t>
            </a:r>
          </a:p>
        </p:txBody>
      </p:sp>
      <p:sp>
        <p:nvSpPr>
          <p:cNvPr id="17" name="Chevron 16"/>
          <p:cNvSpPr/>
          <p:nvPr/>
        </p:nvSpPr>
        <p:spPr>
          <a:xfrm>
            <a:off x="2898648" y="2852928"/>
            <a:ext cx="384048" cy="384048"/>
          </a:xfrm>
          <a:prstGeom prst="chevron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5687568" y="2852928"/>
            <a:ext cx="384048" cy="384048"/>
          </a:xfrm>
          <a:prstGeom prst="chevron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evron 18"/>
          <p:cNvSpPr/>
          <p:nvPr/>
        </p:nvSpPr>
        <p:spPr>
          <a:xfrm>
            <a:off x="8476488" y="2852928"/>
            <a:ext cx="384048" cy="384048"/>
          </a:xfrm>
          <a:prstGeom prst="chevron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" y="4343400"/>
            <a:ext cx="10698480" cy="100584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172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553712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Aptos"/>
              </a:rPr>
              <a:t>ML API endpoints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4517136"/>
            <a:ext cx="8595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DDCEB"/>
                </a:solidFill>
                <a:latin typeface="Aptos"/>
              </a:rPr>
              <a:t>/  •  /health  •  /api/ml-risk-scores  •  /api/ml-summary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9672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48AA2"/>
                </a:solidFill>
                <a:latin typeface="Aptos"/>
              </a:rPr>
              <a:t>SUPPLYPRESCRIPT  •  SUPPLY CHAIN INTELLIGENCE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748AA2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Aptos"/>
              </a:rPr>
              <a:t>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3F8FC"/>
                </a:solidFill>
                <a:latin typeface="Aptos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48AA2"/>
                </a:solidFill>
                <a:latin typeface="Aptos"/>
              </a:rPr>
              <a:t>Tools visible in the supplied implementation.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5212080" cy="105156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947672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3F8FC"/>
                </a:solidFill>
                <a:latin typeface="Aptos"/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28600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748AA2"/>
                </a:solidFill>
                <a:latin typeface="Aptos"/>
              </a:rPr>
              <a:t>React • Vite • Recharts • Lucide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783080"/>
            <a:ext cx="5212080" cy="105156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4808" y="1947672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3F8FC"/>
                </a:solidFill>
                <a:latin typeface="Aptos"/>
              </a:rP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4808" y="228600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748AA2"/>
                </a:solidFill>
                <a:latin typeface="Aptos"/>
              </a:rPr>
              <a:t>Python • FastAPI • Pandas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200400"/>
            <a:ext cx="5212080" cy="105156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3364992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3F8FC"/>
                </a:solidFill>
                <a:latin typeface="Aptos"/>
              </a:rPr>
              <a:t>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370332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748AA2"/>
                </a:solidFill>
                <a:latin typeface="Aptos"/>
              </a:rPr>
              <a:t>PostgreSQL • SQLAlchemy • psycopg2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200400"/>
            <a:ext cx="5212080" cy="105156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3364992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3F8FC"/>
                </a:solidFill>
                <a:latin typeface="Aptos"/>
              </a:rPr>
              <a:t>Machine Learning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8" y="370332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748AA2"/>
                </a:solidFill>
                <a:latin typeface="Aptos"/>
              </a:rPr>
              <a:t>scikit-learn • Random Forest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617720"/>
            <a:ext cx="5212080" cy="105156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4782312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3F8FC"/>
                </a:solidFill>
                <a:latin typeface="Aptos"/>
              </a:rPr>
              <a:t>Analytics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512064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748AA2"/>
                </a:solidFill>
                <a:latin typeface="Aptos"/>
              </a:rPr>
              <a:t>Grouping • KPIs • statistical anomaly scoring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4617720"/>
            <a:ext cx="5212080" cy="105156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8" y="4782312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3F8FC"/>
                </a:solidFill>
                <a:latin typeface="Aptos"/>
              </a:rPr>
              <a:t>API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8" y="512064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748AA2"/>
                </a:solidFill>
                <a:latin typeface="Aptos"/>
              </a:rPr>
              <a:t>Operational APIs + ML prediction APIs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9672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48AA2"/>
                </a:solidFill>
                <a:latin typeface="Aptos"/>
              </a:rPr>
              <a:t>SUPPLYPRESCRIPT  •  SUPPLY CHAIN INTELLIGENCE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748AA2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Aptos"/>
              </a:rPr>
              <a:t>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3F8FC"/>
                </a:solidFill>
                <a:latin typeface="Aptos"/>
              </a:rPr>
              <a:t>Executive control tower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48AA2"/>
                </a:solidFill>
                <a:latin typeface="Aptos"/>
              </a:rPr>
              <a:t>The presentation uses the same dark navy / cyan / purple / teal / orange visual language as the dashboard.</a:t>
            </a:r>
          </a:p>
        </p:txBody>
      </p:sp>
      <p:pic>
        <p:nvPicPr>
          <p:cNvPr id="5" name="Picture 4" descr="1000145578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91640"/>
            <a:ext cx="10972800" cy="4617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19672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48AA2"/>
                </a:solidFill>
                <a:latin typeface="Aptos"/>
              </a:rPr>
              <a:t>SUPPLYPRESCRIPT  •  SUPPLY CHAIN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748AA2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Aptos"/>
              </a:rPr>
              <a:t>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3F8FC"/>
                </a:solidFill>
                <a:latin typeface="Aptos"/>
              </a:rPr>
              <a:t>Eight functional 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48AA2"/>
                </a:solidFill>
                <a:latin typeface="Aptos"/>
              </a:rPr>
              <a:t>Each page focuses on a different operational decision area.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2514600" cy="132588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3F8FC"/>
                </a:solidFill>
                <a:latin typeface="Aptos"/>
              </a:rPr>
              <a:t>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748AA2"/>
                </a:solidFill>
                <a:latin typeface="Aptos"/>
              </a:rPr>
              <a:t>Executive overview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874519"/>
            <a:ext cx="2514600" cy="132588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10312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3F8FC"/>
                </a:solidFill>
                <a:latin typeface="Aptos"/>
              </a:rPr>
              <a:t>Products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56032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748AA2"/>
                </a:solidFill>
                <a:latin typeface="Aptos"/>
              </a:rPr>
              <a:t>Demand &amp; revenue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74519"/>
            <a:ext cx="2514600" cy="132588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3F8FC"/>
                </a:solidFill>
                <a:latin typeface="Aptos"/>
              </a:rPr>
              <a:t>Inventory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56032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748AA2"/>
                </a:solidFill>
                <a:latin typeface="Aptos"/>
              </a:rPr>
              <a:t>Stock health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1874519"/>
            <a:ext cx="2514600" cy="132588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210312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3F8FC"/>
                </a:solidFill>
                <a:latin typeface="Aptos"/>
              </a:rPr>
              <a:t>Suppliers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256032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748AA2"/>
                </a:solidFill>
                <a:latin typeface="Aptos"/>
              </a:rPr>
              <a:t>Performance &amp; reliability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703320"/>
            <a:ext cx="2514600" cy="132588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93192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3F8FC"/>
                </a:solidFill>
                <a:latin typeface="Aptos"/>
              </a:rPr>
              <a:t>Logistics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38912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748AA2"/>
                </a:solidFill>
                <a:latin typeface="Aptos"/>
              </a:rPr>
              <a:t>Shipping efficiency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3703320"/>
            <a:ext cx="2514600" cy="132588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0" y="393192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3F8FC"/>
                </a:solidFill>
                <a:latin typeface="Aptos"/>
              </a:rPr>
              <a:t>Manufacturing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438912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748AA2"/>
                </a:solidFill>
                <a:latin typeface="Aptos"/>
              </a:rPr>
              <a:t>Production &amp; cost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703320"/>
            <a:ext cx="2514600" cy="132588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93192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3F8FC"/>
                </a:solidFill>
                <a:latin typeface="Aptos"/>
              </a:rPr>
              <a:t>Quality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38912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748AA2"/>
                </a:solidFill>
                <a:latin typeface="Aptos"/>
              </a:rPr>
              <a:t>Defect management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98280" y="3703320"/>
            <a:ext cx="2514600" cy="132588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0" y="393192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3F8FC"/>
                </a:solidFill>
                <a:latin typeface="Aptos"/>
              </a:rPr>
              <a:t>Insights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438912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748AA2"/>
                </a:solidFill>
                <a:latin typeface="Aptos"/>
              </a:rPr>
              <a:t>Risk &amp; recommendations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19672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48AA2"/>
                </a:solidFill>
                <a:latin typeface="Aptos"/>
              </a:rPr>
              <a:t>SUPPLYPRESCRIPT  •  SUPPLY CHAIN INTELLIGENCE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748AA2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Aptos"/>
              </a:rPr>
              <a:t>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3F8FC"/>
                </a:solidFill>
                <a:latin typeface="Aptos"/>
              </a:rPr>
              <a:t>Operational analytics &amp; anomaly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48AA2"/>
                </a:solidFill>
                <a:latin typeface="Aptos"/>
              </a:rPr>
              <a:t>Statistical anomaly scoring is implemented for inventory, shipping time and manufacturing cost.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743200" cy="114300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172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50292" cy="1143000"/>
          </a:xfrm>
          <a:prstGeom prst="rect">
            <a:avLst/>
          </a:prstGeom>
          <a:solidFill>
            <a:srgbClr val="F59E0B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993392"/>
            <a:ext cx="2423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748AA2"/>
                </a:solidFill>
                <a:latin typeface="Aptos"/>
              </a:rPr>
              <a:t>METHOD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286000"/>
            <a:ext cx="2423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3F8FC"/>
                </a:solidFill>
                <a:latin typeface="Aptos"/>
              </a:rPr>
              <a:t>Z-score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97480"/>
            <a:ext cx="24231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748AA2"/>
                </a:solidFill>
                <a:latin typeface="Aptos"/>
              </a:rPr>
              <a:t>threshold: 1.75σ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1828800"/>
            <a:ext cx="2743200" cy="114300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172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11880" y="1828800"/>
            <a:ext cx="50292" cy="1143000"/>
          </a:xfrm>
          <a:prstGeom prst="rect">
            <a:avLst/>
          </a:prstGeom>
          <a:solidFill>
            <a:srgbClr val="2DD4BF"/>
          </a:solidFill>
          <a:ln w="1016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3048" y="1993392"/>
            <a:ext cx="2423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748AA2"/>
                </a:solidFill>
                <a:latin typeface="Aptos"/>
              </a:rPr>
              <a:t>INVENTORY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3048" y="2286000"/>
            <a:ext cx="2423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3F8FC"/>
                </a:solidFill>
                <a:latin typeface="Aptos"/>
              </a:rPr>
              <a:t>Stock levels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3048" y="2697480"/>
            <a:ext cx="24231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748AA2"/>
                </a:solidFill>
                <a:latin typeface="Aptos"/>
              </a:rPr>
              <a:t>low-stock threshold &lt; 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1828800"/>
            <a:ext cx="2743200" cy="114300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172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0" y="1828800"/>
            <a:ext cx="50292" cy="1143000"/>
          </a:xfrm>
          <a:prstGeom prst="rect">
            <a:avLst/>
          </a:prstGeom>
          <a:solidFill>
            <a:srgbClr val="38BDF8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84848" y="1993392"/>
            <a:ext cx="2423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748AA2"/>
                </a:solidFill>
                <a:latin typeface="Aptos"/>
              </a:rPr>
              <a:t>LOGISTICS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48" y="2286000"/>
            <a:ext cx="2423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3F8FC"/>
                </a:solidFill>
                <a:latin typeface="Aptos"/>
              </a:rPr>
              <a:t>Shipping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4848" y="2697480"/>
            <a:ext cx="24231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748AA2"/>
                </a:solidFill>
                <a:latin typeface="Aptos"/>
              </a:rPr>
              <a:t>delivery-time outliers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55480" y="1828800"/>
            <a:ext cx="1965960" cy="114300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172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555480" y="1828800"/>
            <a:ext cx="50292" cy="1143000"/>
          </a:xfrm>
          <a:prstGeom prst="rect">
            <a:avLst/>
          </a:prstGeom>
          <a:solidFill>
            <a:srgbClr val="8B5CF6"/>
          </a:solidFill>
          <a:ln w="1016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56648" y="1993392"/>
            <a:ext cx="164591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748AA2"/>
                </a:solidFill>
                <a:latin typeface="Aptos"/>
              </a:rPr>
              <a:t>COST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6648" y="2286000"/>
            <a:ext cx="16459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3F8FC"/>
                </a:solidFill>
                <a:latin typeface="Aptos"/>
              </a:rPr>
              <a:t>Manufacturing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56648" y="2697480"/>
            <a:ext cx="164591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748AA2"/>
                </a:solidFill>
                <a:latin typeface="Aptos"/>
              </a:rPr>
              <a:t>cost outliers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337560"/>
            <a:ext cx="6400800" cy="2377440"/>
          </a:xfrm>
          <a:prstGeom prst="roundRect">
            <a:avLst/>
          </a:prstGeom>
          <a:solidFill>
            <a:srgbClr val="091624"/>
          </a:solidFill>
          <a:ln w="10160">
            <a:solidFill>
              <a:srgbClr val="172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51560" y="3863339"/>
            <a:ext cx="1795272" cy="1440179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39" y="3634739"/>
            <a:ext cx="18867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F3F8FC"/>
                </a:solidFill>
                <a:latin typeface="Aptos"/>
              </a:rPr>
              <a:t>1.75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19" y="5367528"/>
            <a:ext cx="19781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0">
                <a:solidFill>
                  <a:srgbClr val="748AA2"/>
                </a:solidFill>
                <a:latin typeface="Aptos"/>
              </a:rPr>
              <a:t>Inventory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65704" y="3863339"/>
            <a:ext cx="1795272" cy="1440179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19984" y="3634739"/>
            <a:ext cx="18867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F3F8FC"/>
                </a:solidFill>
                <a:latin typeface="Aptos"/>
              </a:rPr>
              <a:t>1.75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74264" y="5367528"/>
            <a:ext cx="19781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0">
                <a:solidFill>
                  <a:srgbClr val="748AA2"/>
                </a:solidFill>
                <a:latin typeface="Aptos"/>
              </a:rPr>
              <a:t>Shipping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79848" y="3863339"/>
            <a:ext cx="1795272" cy="1440179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34128" y="3634739"/>
            <a:ext cx="18867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F3F8FC"/>
                </a:solidFill>
                <a:latin typeface="Aptos"/>
              </a:rPr>
              <a:t>1.75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88408" y="5367528"/>
            <a:ext cx="19781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0">
                <a:solidFill>
                  <a:srgbClr val="748AA2"/>
                </a:solidFill>
                <a:latin typeface="Aptos"/>
              </a:rPr>
              <a:t>Mfg Cost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0" y="3337560"/>
            <a:ext cx="4206240" cy="237744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172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43800" y="36118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8FC"/>
                </a:solidFill>
                <a:latin typeface="Aptos"/>
              </a:rPr>
              <a:t>How it helps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43800" y="4023360"/>
            <a:ext cx="3566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CDDCEB"/>
                </a:solidFill>
                <a:latin typeface="Aptos"/>
              </a:defRPr>
            </a:pPr>
            <a:r>
              <a:t>• Flags unusually high/low values</a:t>
            </a:r>
          </a:p>
          <a:p>
            <a:pPr>
              <a:spcAft>
                <a:spcPts val="700"/>
              </a:spcAft>
              <a:defRPr sz="1100">
                <a:solidFill>
                  <a:srgbClr val="CDDCEB"/>
                </a:solidFill>
                <a:latin typeface="Aptos"/>
              </a:defRPr>
            </a:pPr>
            <a:r>
              <a:t>• Ranks the strongest alerts</a:t>
            </a:r>
          </a:p>
          <a:p>
            <a:pPr>
              <a:spcAft>
                <a:spcPts val="700"/>
              </a:spcAft>
              <a:defRPr sz="1100">
                <a:solidFill>
                  <a:srgbClr val="CDDCEB"/>
                </a:solidFill>
                <a:latin typeface="Aptos"/>
              </a:defRPr>
            </a:pPr>
            <a:r>
              <a:t>• Feeds the Insights page</a:t>
            </a:r>
          </a:p>
          <a:p>
            <a:pPr>
              <a:spcAft>
                <a:spcPts val="700"/>
              </a:spcAft>
              <a:defRPr sz="1100">
                <a:solidFill>
                  <a:srgbClr val="CDDCEB"/>
                </a:solidFill>
                <a:latin typeface="Aptos"/>
              </a:defRPr>
            </a:pPr>
            <a:r>
              <a:t>• Supports review before action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519672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48AA2"/>
                </a:solidFill>
                <a:latin typeface="Aptos"/>
              </a:rPr>
              <a:t>SUPPLYPRESCRIPT  •  SUPPLY CHAIN INTELLIGENCE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748AA2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Aptos"/>
              </a:rPr>
              <a:t>SUPPLIERS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3F8FC"/>
                </a:solidFill>
                <a:latin typeface="Aptos"/>
              </a:rPr>
              <a:t>Supplier performance &amp; segmentation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48AA2"/>
                </a:solidFill>
                <a:latin typeface="Aptos"/>
              </a:rPr>
              <a:t>Supplier analysis combines performance, lead time, defects and cost signals.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303520" cy="388620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172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031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3F8FC"/>
                </a:solidFill>
                <a:latin typeface="Aptos"/>
              </a:rPr>
              <a:t>Supplier Performance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606040"/>
            <a:ext cx="4846320" cy="2148840"/>
          </a:xfrm>
          <a:prstGeom prst="roundRect">
            <a:avLst/>
          </a:prstGeom>
          <a:solidFill>
            <a:srgbClr val="091624"/>
          </a:solidFill>
          <a:ln w="10160">
            <a:solidFill>
              <a:srgbClr val="172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80160" y="3181197"/>
            <a:ext cx="718718" cy="116220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39" y="2952597"/>
            <a:ext cx="81015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F3F8FC"/>
                </a:solidFill>
                <a:latin typeface="Aptos"/>
              </a:rPr>
              <a:t>82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4407408"/>
            <a:ext cx="90159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0">
                <a:solidFill>
                  <a:srgbClr val="748AA2"/>
                </a:solidFill>
                <a:latin typeface="Aptos"/>
              </a:rPr>
              <a:t>S1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17750" y="3266236"/>
            <a:ext cx="718718" cy="1077163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72030" y="3037636"/>
            <a:ext cx="81015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F3F8FC"/>
                </a:solidFill>
                <a:latin typeface="Aptos"/>
              </a:rPr>
              <a:t>76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6310" y="4407408"/>
            <a:ext cx="90159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0">
                <a:solidFill>
                  <a:srgbClr val="748AA2"/>
                </a:solidFill>
                <a:latin typeface="Aptos"/>
              </a:rPr>
              <a:t>S2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55340" y="3337102"/>
            <a:ext cx="718718" cy="1006297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09620" y="3108502"/>
            <a:ext cx="81015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F3F8FC"/>
                </a:solidFill>
                <a:latin typeface="Aptos"/>
              </a:rPr>
              <a:t>71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63900" y="4407408"/>
            <a:ext cx="90159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0">
                <a:solidFill>
                  <a:srgbClr val="748AA2"/>
                </a:solidFill>
                <a:latin typeface="Aptos"/>
              </a:rPr>
              <a:t>S3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92931" y="3379622"/>
            <a:ext cx="718718" cy="963777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7211" y="3151022"/>
            <a:ext cx="81015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F3F8FC"/>
                </a:solidFill>
                <a:latin typeface="Aptos"/>
              </a:rPr>
              <a:t>68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1491" y="4407408"/>
            <a:ext cx="90159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0">
                <a:solidFill>
                  <a:srgbClr val="748AA2"/>
                </a:solidFill>
                <a:latin typeface="Aptos"/>
              </a:rPr>
              <a:t>S4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30521" y="3450488"/>
            <a:ext cx="718718" cy="892911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84801" y="3221888"/>
            <a:ext cx="81015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F3F8FC"/>
                </a:solidFill>
                <a:latin typeface="Aptos"/>
              </a:rPr>
              <a:t>63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9081" y="4407408"/>
            <a:ext cx="90159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0">
                <a:solidFill>
                  <a:srgbClr val="748AA2"/>
                </a:solidFill>
                <a:latin typeface="Aptos"/>
              </a:rPr>
              <a:t>S5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1663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748AA2"/>
                </a:solidFill>
                <a:latin typeface="Aptos"/>
              </a:rPr>
              <a:t>Comparative visual; actual values respond to selected data.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828800"/>
            <a:ext cx="5303520" cy="388620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172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2103120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3F8FC"/>
                </a:solidFill>
                <a:latin typeface="Aptos"/>
              </a:rPr>
              <a:t>K-Means Supplier Segmentation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2606040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48AA2"/>
                </a:solidFill>
                <a:latin typeface="Aptos"/>
              </a:rPr>
              <a:t>Unsupervised grouping across: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297180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CDDCEB"/>
                </a:solidFill>
                <a:latin typeface="Aptos"/>
              </a:defRPr>
            </a:pPr>
            <a:r>
              <a:t>• Supplier performance score</a:t>
            </a:r>
          </a:p>
          <a:p>
            <a:pPr>
              <a:spcAft>
                <a:spcPts val="700"/>
              </a:spcAft>
              <a:defRPr sz="1100">
                <a:solidFill>
                  <a:srgbClr val="CDDCEB"/>
                </a:solidFill>
                <a:latin typeface="Aptos"/>
              </a:defRPr>
            </a:pPr>
            <a:r>
              <a:t>• Lead time</a:t>
            </a:r>
          </a:p>
          <a:p>
            <a:pPr>
              <a:spcAft>
                <a:spcPts val="700"/>
              </a:spcAft>
              <a:defRPr sz="1100">
                <a:solidFill>
                  <a:srgbClr val="CDDCEB"/>
                </a:solidFill>
                <a:latin typeface="Aptos"/>
              </a:defRPr>
            </a:pPr>
            <a:r>
              <a:t>• Defect rate</a:t>
            </a:r>
          </a:p>
          <a:p>
            <a:pPr>
              <a:spcAft>
                <a:spcPts val="700"/>
              </a:spcAft>
              <a:defRPr sz="1100">
                <a:solidFill>
                  <a:srgbClr val="CDDCEB"/>
                </a:solidFill>
                <a:latin typeface="Aptos"/>
              </a:defRPr>
            </a:pPr>
            <a:r>
              <a:t>• Manufacturing cost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46520" y="4434840"/>
            <a:ext cx="1051560" cy="283464"/>
          </a:xfrm>
          <a:prstGeom prst="roundRect">
            <a:avLst/>
          </a:prstGeom>
          <a:solidFill>
            <a:srgbClr val="09192A"/>
          </a:solidFill>
          <a:ln w="1016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443983"/>
            <a:ext cx="10515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8B5CF6"/>
                </a:solidFill>
                <a:latin typeface="Aptos"/>
              </a:rPr>
              <a:t>Segment 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35240" y="4434840"/>
            <a:ext cx="1051560" cy="283464"/>
          </a:xfrm>
          <a:prstGeom prst="roundRect">
            <a:avLst/>
          </a:prstGeom>
          <a:solidFill>
            <a:srgbClr val="09192A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35240" y="4443983"/>
            <a:ext cx="10515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59E0B"/>
                </a:solidFill>
                <a:latin typeface="Aptos"/>
              </a:rPr>
              <a:t>Segment 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23960" y="4434840"/>
            <a:ext cx="1051560" cy="283464"/>
          </a:xfrm>
          <a:prstGeom prst="roundRect">
            <a:avLst/>
          </a:prstGeom>
          <a:solidFill>
            <a:srgbClr val="09192A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23960" y="4443983"/>
            <a:ext cx="10515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38BDF8"/>
                </a:solidFill>
                <a:latin typeface="Aptos"/>
              </a:rPr>
              <a:t>Segment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4983480"/>
            <a:ext cx="4480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748AA2"/>
                </a:solidFill>
                <a:latin typeface="Aptos"/>
              </a:rPr>
              <a:t>Purpose: compare supplier operating profiles rather than rely on one KPI.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19672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48AA2"/>
                </a:solidFill>
                <a:latin typeface="Aptos"/>
              </a:rPr>
              <a:t>SUPPLYPRESCRIPT  •  SUPPLY CHAIN INTELLIGENCE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748AA2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Aptos"/>
              </a:rPr>
              <a:t>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3F8FC"/>
                </a:solidFill>
                <a:latin typeface="Aptos"/>
              </a:rPr>
              <a:t>Logistics • Manufacturing •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48AA2"/>
                </a:solidFill>
                <a:latin typeface="Aptos"/>
              </a:rPr>
              <a:t>The functional pages expose the operational drivers behind supply-chain performance.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3383280" cy="388620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0312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Aptos"/>
              </a:rPr>
              <a:t>LOGISTICS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651760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3F8FC"/>
                </a:solidFill>
                <a:latin typeface="Aptos"/>
              </a:rPr>
              <a:t>Average shipping time &amp; 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3246120"/>
            <a:ext cx="2743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CDDCEB"/>
                </a:solidFill>
                <a:latin typeface="Aptos"/>
              </a:defRPr>
            </a:pPr>
            <a:r>
              <a:t>• Carrier and route comparison</a:t>
            </a:r>
          </a:p>
          <a:p>
            <a:pPr>
              <a:spcAft>
                <a:spcPts val="700"/>
              </a:spcAft>
              <a:defRPr sz="1050">
                <a:solidFill>
                  <a:srgbClr val="CDDCEB"/>
                </a:solidFill>
                <a:latin typeface="Aptos"/>
              </a:defRPr>
            </a:pPr>
            <a:r>
              <a:t>• Transportation mode distribution</a:t>
            </a:r>
          </a:p>
          <a:p>
            <a:pPr>
              <a:spcAft>
                <a:spcPts val="700"/>
              </a:spcAft>
              <a:defRPr sz="1050">
                <a:solidFill>
                  <a:srgbClr val="CDDCEB"/>
                </a:solidFill>
                <a:latin typeface="Aptos"/>
              </a:defRPr>
            </a:pPr>
            <a:r>
              <a:t>• Shipping-time anomaly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5074920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48AA2"/>
                </a:solidFill>
                <a:latin typeface="Aptos"/>
              </a:rPr>
              <a:t>Operational 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383280" cy="388620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10312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Aptos"/>
              </a:rPr>
              <a:t>MANUFACTURING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651760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3F8FC"/>
                </a:solidFill>
                <a:latin typeface="Aptos"/>
              </a:rPr>
              <a:t>Production volume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3246120"/>
            <a:ext cx="2743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CDDCEB"/>
                </a:solidFill>
                <a:latin typeface="Aptos"/>
              </a:defRPr>
            </a:pPr>
            <a:r>
              <a:t>• Manufacturing cost by supplier/type</a:t>
            </a:r>
          </a:p>
          <a:p>
            <a:pPr>
              <a:spcAft>
                <a:spcPts val="700"/>
              </a:spcAft>
              <a:defRPr sz="1050">
                <a:solidFill>
                  <a:srgbClr val="CDDCEB"/>
                </a:solidFill>
                <a:latin typeface="Aptos"/>
              </a:defRPr>
            </a:pPr>
            <a:r>
              <a:t>• Production vs cost relationship</a:t>
            </a:r>
          </a:p>
          <a:p>
            <a:pPr>
              <a:spcAft>
                <a:spcPts val="700"/>
              </a:spcAft>
              <a:defRPr sz="1050">
                <a:solidFill>
                  <a:srgbClr val="CDDCEB"/>
                </a:solidFill>
                <a:latin typeface="Aptos"/>
              </a:defRPr>
            </a:pPr>
            <a:r>
              <a:t>• Manufacturing-cost anomaly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5074920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48AA2"/>
                </a:solidFill>
                <a:latin typeface="Aptos"/>
              </a:rPr>
              <a:t>Operational 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1828800"/>
            <a:ext cx="3383280" cy="388620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8" y="210312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43F5E"/>
                </a:solidFill>
                <a:latin typeface="Aptos"/>
              </a:rPr>
              <a:t>QUALITY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2651760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3F8FC"/>
                </a:solidFill>
                <a:latin typeface="Aptos"/>
              </a:rPr>
              <a:t>Pass / Fail / Pending outcomes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3246120"/>
            <a:ext cx="2743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CDDCEB"/>
                </a:solidFill>
                <a:latin typeface="Aptos"/>
              </a:defRPr>
            </a:pPr>
            <a:r>
              <a:t>• Defect rate by product type</a:t>
            </a:r>
          </a:p>
          <a:p>
            <a:pPr>
              <a:spcAft>
                <a:spcPts val="700"/>
              </a:spcAft>
              <a:defRPr sz="1050">
                <a:solidFill>
                  <a:srgbClr val="CDDCEB"/>
                </a:solidFill>
                <a:latin typeface="Aptos"/>
              </a:defRPr>
            </a:pPr>
            <a:r>
              <a:t>• Supplier quality comparison</a:t>
            </a:r>
          </a:p>
          <a:p>
            <a:pPr>
              <a:spcAft>
                <a:spcPts val="700"/>
              </a:spcAft>
              <a:defRPr sz="1050">
                <a:solidFill>
                  <a:srgbClr val="CDDCEB"/>
                </a:solidFill>
                <a:latin typeface="Aptos"/>
              </a:defRPr>
            </a:pPr>
            <a:r>
              <a:t>• Quality trend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5074920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48AA2"/>
                </a:solidFill>
                <a:latin typeface="Aptos"/>
              </a:rPr>
              <a:t>Operational 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9672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48AA2"/>
                </a:solidFill>
                <a:latin typeface="Aptos"/>
              </a:rPr>
              <a:t>SUPPLYPRESCRIPT  •  SUPPLY CHAIN INTELLIGENCE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748AA2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Aptos"/>
              </a:rPr>
              <a:t>RISK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3F8FC"/>
                </a:solidFill>
                <a:latin typeface="Aptos"/>
              </a:rPr>
              <a:t>Transparent rule-based risk scoring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48AA2"/>
                </a:solidFill>
                <a:latin typeface="Aptos"/>
              </a:rPr>
              <a:t>The main FastAPI risk engine produces a score and category for each record.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743200" cy="114300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172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50292" cy="1143000"/>
          </a:xfrm>
          <a:prstGeom prst="rect">
            <a:avLst/>
          </a:prstGeom>
          <a:solidFill>
            <a:srgbClr val="F43F5E"/>
          </a:solidFill>
          <a:ln w="1016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993392"/>
            <a:ext cx="2423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748AA2"/>
                </a:solidFill>
                <a:latin typeface="Aptos"/>
              </a:rPr>
              <a:t>AVG RISK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286000"/>
            <a:ext cx="2423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3F8FC"/>
                </a:solidFill>
                <a:latin typeface="Aptos"/>
              </a:rPr>
              <a:t>50.73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97480"/>
            <a:ext cx="24231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748AA2"/>
                </a:solidFill>
                <a:latin typeface="Aptos"/>
              </a:rPr>
              <a:t>current observed output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1828800"/>
            <a:ext cx="2286000" cy="114300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172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11880" y="1828800"/>
            <a:ext cx="50292" cy="1143000"/>
          </a:xfrm>
          <a:prstGeom prst="rect">
            <a:avLst/>
          </a:prstGeom>
          <a:solidFill>
            <a:srgbClr val="F43F5E"/>
          </a:solidFill>
          <a:ln w="1016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3048" y="1993392"/>
            <a:ext cx="1965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748AA2"/>
                </a:solidFill>
                <a:latin typeface="Aptos"/>
              </a:rPr>
              <a:t>HIGH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3048" y="2286000"/>
            <a:ext cx="1965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3F8FC"/>
                </a:solidFill>
                <a:latin typeface="Aptos"/>
              </a:rPr>
              <a:t>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3048" y="2697480"/>
            <a:ext cx="1965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748AA2"/>
                </a:solidFill>
                <a:latin typeface="Aptos"/>
              </a:rPr>
              <a:t>records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828800"/>
            <a:ext cx="2286000" cy="114300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172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828800"/>
            <a:ext cx="50292" cy="1143000"/>
          </a:xfrm>
          <a:prstGeom prst="rect">
            <a:avLst/>
          </a:prstGeom>
          <a:solidFill>
            <a:srgbClr val="F59E0B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8" y="1993392"/>
            <a:ext cx="1965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748AA2"/>
                </a:solidFill>
                <a:latin typeface="Aptos"/>
              </a:rPr>
              <a:t>MEDIUM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2286000"/>
            <a:ext cx="1965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3F8FC"/>
                </a:solidFill>
                <a:latin typeface="Aptos"/>
              </a:rPr>
              <a:t>73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2697480"/>
            <a:ext cx="1965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748AA2"/>
                </a:solidFill>
                <a:latin typeface="Aptos"/>
              </a:rPr>
              <a:t>records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41080" y="1828800"/>
            <a:ext cx="2286000" cy="114300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172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41080" y="1828800"/>
            <a:ext cx="50292" cy="1143000"/>
          </a:xfrm>
          <a:prstGeom prst="rect">
            <a:avLst/>
          </a:prstGeom>
          <a:solidFill>
            <a:srgbClr val="2DD4BF"/>
          </a:solidFill>
          <a:ln w="1016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42248" y="1993392"/>
            <a:ext cx="1965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748AA2"/>
                </a:solidFill>
                <a:latin typeface="Aptos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42248" y="2286000"/>
            <a:ext cx="1965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3F8FC"/>
                </a:solidFill>
                <a:latin typeface="Aptos"/>
              </a:rPr>
              <a:t>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42248" y="2697480"/>
            <a:ext cx="1965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748AA2"/>
                </a:solidFill>
                <a:latin typeface="Aptos"/>
              </a:rPr>
              <a:t>records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337560"/>
            <a:ext cx="2743200" cy="2331720"/>
          </a:xfrm>
          <a:prstGeom prst="roundRect">
            <a:avLst/>
          </a:prstGeom>
          <a:solidFill>
            <a:srgbClr val="091624"/>
          </a:solidFill>
          <a:ln w="10160">
            <a:solidFill>
              <a:srgbClr val="172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61188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3F8FC"/>
                </a:solidFill>
                <a:latin typeface="Aptos"/>
              </a:rPr>
              <a:t>Risk distribution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3977639"/>
            <a:ext cx="2286000" cy="1325880"/>
          </a:xfrm>
          <a:prstGeom prst="roundRect">
            <a:avLst/>
          </a:prstGeom>
          <a:solidFill>
            <a:srgbClr val="091624"/>
          </a:solidFill>
          <a:ln w="10160">
            <a:solidFill>
              <a:srgbClr val="172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280160" y="4780597"/>
            <a:ext cx="423672" cy="11144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4439" y="4551997"/>
            <a:ext cx="5151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F3F8FC"/>
                </a:solidFill>
                <a:latin typeface="Aptos"/>
              </a:rPr>
              <a:t>15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19" y="4956048"/>
            <a:ext cx="6065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0">
                <a:solidFill>
                  <a:srgbClr val="748AA2"/>
                </a:solidFill>
                <a:latin typeface="Aptos"/>
              </a:rPr>
              <a:t>High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22703" y="4349686"/>
            <a:ext cx="423672" cy="54235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776983" y="4121086"/>
            <a:ext cx="5151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F3F8FC"/>
                </a:solidFill>
                <a:latin typeface="Aptos"/>
              </a:rPr>
              <a:t>73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31263" y="4956048"/>
            <a:ext cx="6065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0">
                <a:solidFill>
                  <a:srgbClr val="748AA2"/>
                </a:solidFill>
                <a:latin typeface="Aptos"/>
              </a:rPr>
              <a:t>Medium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65248" y="4802886"/>
            <a:ext cx="423672" cy="8915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19528" y="4574286"/>
            <a:ext cx="5151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F3F8FC"/>
                </a:solidFill>
                <a:latin typeface="Aptos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73807" y="4956048"/>
            <a:ext cx="6065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0">
                <a:solidFill>
                  <a:srgbClr val="748AA2"/>
                </a:solidFill>
                <a:latin typeface="Aptos"/>
              </a:rPr>
              <a:t>Low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0" y="3337560"/>
            <a:ext cx="7863840" cy="233172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172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86200" y="361188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3F8FC"/>
                </a:solidFill>
                <a:latin typeface="Aptos"/>
              </a:rPr>
              <a:t>Operational signals used by the rule layer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86200" y="4069080"/>
            <a:ext cx="7132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CDDCEB"/>
                </a:solidFill>
                <a:latin typeface="Aptos"/>
              </a:defRPr>
            </a:pPr>
            <a:r>
              <a:t>• Inventory pressure: stock below 10 units</a:t>
            </a:r>
          </a:p>
          <a:p>
            <a:pPr>
              <a:spcAft>
                <a:spcPts val="700"/>
              </a:spcAft>
              <a:defRPr sz="1100">
                <a:solidFill>
                  <a:srgbClr val="CDDCEB"/>
                </a:solidFill>
                <a:latin typeface="Aptos"/>
              </a:defRPr>
            </a:pPr>
            <a:r>
              <a:t>• Quality exposure: defect rate at or above 4%</a:t>
            </a:r>
          </a:p>
          <a:p>
            <a:pPr>
              <a:spcAft>
                <a:spcPts val="700"/>
              </a:spcAft>
              <a:defRPr sz="1100">
                <a:solidFill>
                  <a:srgbClr val="CDDCEB"/>
                </a:solidFill>
                <a:latin typeface="Aptos"/>
              </a:defRPr>
            </a:pPr>
            <a:r>
              <a:t>• Shipping delay: shipping time at or above 7 days</a:t>
            </a:r>
          </a:p>
          <a:p>
            <a:pPr>
              <a:spcAft>
                <a:spcPts val="700"/>
              </a:spcAft>
              <a:defRPr sz="1100">
                <a:solidFill>
                  <a:srgbClr val="CDDCEB"/>
                </a:solidFill>
                <a:latin typeface="Aptos"/>
              </a:defRPr>
            </a:pPr>
            <a:r>
              <a:t>• Inspection failures: failed inspection results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19672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48AA2"/>
                </a:solidFill>
                <a:latin typeface="Aptos"/>
              </a:rPr>
              <a:t>SUPPLYPRESCRIPT  •  SUPPLY CHAIN INTELLIGENCE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748AA2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Aptos"/>
              </a:rPr>
              <a:t>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3F8FC"/>
                </a:solidFill>
                <a:latin typeface="Aptos"/>
              </a:rPr>
              <a:t>Random Forest risk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48AA2"/>
                </a:solidFill>
                <a:latin typeface="Aptos"/>
              </a:rPr>
              <a:t>The ML service predicts an operational risk score independently from the rule-based engine.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468880" cy="114300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172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50292" cy="1143000"/>
          </a:xfrm>
          <a:prstGeom prst="rect">
            <a:avLst/>
          </a:prstGeom>
          <a:solidFill>
            <a:srgbClr val="8B5CF6"/>
          </a:solidFill>
          <a:ln w="1016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993392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748AA2"/>
                </a:solidFill>
                <a:latin typeface="Aptos"/>
              </a:rPr>
              <a:t>AVG ML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286000"/>
            <a:ext cx="2148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3F8FC"/>
                </a:solidFill>
                <a:latin typeface="Aptos"/>
              </a:rPr>
              <a:t>35.41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97480"/>
            <a:ext cx="21488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748AA2"/>
                </a:solidFill>
                <a:latin typeface="Aptos"/>
              </a:rPr>
              <a:t>100 predictions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828800"/>
            <a:ext cx="2011680" cy="114300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172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828800"/>
            <a:ext cx="50292" cy="1143000"/>
          </a:xfrm>
          <a:prstGeom prst="rect">
            <a:avLst/>
          </a:prstGeom>
          <a:solidFill>
            <a:srgbClr val="F43F5E"/>
          </a:solidFill>
          <a:ln w="1016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8728" y="1993392"/>
            <a:ext cx="1691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748AA2"/>
                </a:solidFill>
                <a:latin typeface="Aptos"/>
              </a:rPr>
              <a:t>HIGH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2286000"/>
            <a:ext cx="1691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3F8FC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2697480"/>
            <a:ext cx="1691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748AA2"/>
                </a:solidFill>
                <a:latin typeface="Aptos"/>
              </a:rPr>
              <a:t>record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77840" y="1828800"/>
            <a:ext cx="2011680" cy="114300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172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577840" y="1828800"/>
            <a:ext cx="50292" cy="1143000"/>
          </a:xfrm>
          <a:prstGeom prst="rect">
            <a:avLst/>
          </a:prstGeom>
          <a:solidFill>
            <a:srgbClr val="F59E0B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79007" y="1993392"/>
            <a:ext cx="1691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748AA2"/>
                </a:solidFill>
                <a:latin typeface="Aptos"/>
              </a:rPr>
              <a:t>MEDIUM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79007" y="2286000"/>
            <a:ext cx="1691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3F8FC"/>
                </a:solidFill>
                <a:latin typeface="Aptos"/>
              </a:rPr>
              <a:t>38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79007" y="2697480"/>
            <a:ext cx="1691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748AA2"/>
                </a:solidFill>
                <a:latin typeface="Aptos"/>
              </a:rPr>
              <a:t>records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1828800"/>
            <a:ext cx="2011680" cy="114300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172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18120" y="1828800"/>
            <a:ext cx="50292" cy="1143000"/>
          </a:xfrm>
          <a:prstGeom prst="rect">
            <a:avLst/>
          </a:prstGeom>
          <a:solidFill>
            <a:srgbClr val="2DD4BF"/>
          </a:solidFill>
          <a:ln w="1016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19288" y="1993392"/>
            <a:ext cx="1691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748AA2"/>
                </a:solidFill>
                <a:latin typeface="Aptos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9288" y="2286000"/>
            <a:ext cx="1691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3F8FC"/>
                </a:solidFill>
                <a:latin typeface="Aptos"/>
              </a:rPr>
              <a:t>61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19288" y="2697480"/>
            <a:ext cx="1691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748AA2"/>
                </a:solidFill>
                <a:latin typeface="Aptos"/>
              </a:rPr>
              <a:t>records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0" y="1828800"/>
            <a:ext cx="1463040" cy="114300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22992" y="19933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48AA2"/>
                </a:solidFill>
                <a:latin typeface="Aptos"/>
              </a:rPr>
              <a:t>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22992" y="2267712"/>
            <a:ext cx="1143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3F8FC"/>
                </a:solidFill>
                <a:latin typeface="Aptos"/>
              </a:rPr>
              <a:t>Random
Forest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337560"/>
            <a:ext cx="5486400" cy="2331720"/>
          </a:xfrm>
          <a:prstGeom prst="roundRect">
            <a:avLst/>
          </a:prstGeom>
          <a:solidFill>
            <a:srgbClr val="091624"/>
          </a:solidFill>
          <a:ln w="10160">
            <a:solidFill>
              <a:srgbClr val="172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51560" y="5234939"/>
            <a:ext cx="1490472" cy="22859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39" y="5006339"/>
            <a:ext cx="15819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F3F8FC"/>
                </a:solidFill>
                <a:latin typeface="Aptos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19" y="5321807"/>
            <a:ext cx="16733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0">
                <a:solidFill>
                  <a:srgbClr val="748AA2"/>
                </a:solidFill>
                <a:latin typeface="Aptos"/>
              </a:rPr>
              <a:t>High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60904" y="4389120"/>
            <a:ext cx="1490472" cy="86867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15184" y="4160520"/>
            <a:ext cx="15819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F3F8FC"/>
                </a:solidFill>
                <a:latin typeface="Aptos"/>
              </a:rPr>
              <a:t>38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9464" y="5321807"/>
            <a:ext cx="16733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0">
                <a:solidFill>
                  <a:srgbClr val="748AA2"/>
                </a:solidFill>
                <a:latin typeface="Aptos"/>
              </a:rPr>
              <a:t>Medium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0248" y="3863339"/>
            <a:ext cx="1490472" cy="1394459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24528" y="3634739"/>
            <a:ext cx="15819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F3F8FC"/>
                </a:solidFill>
                <a:latin typeface="Aptos"/>
              </a:rPr>
              <a:t>61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78808" y="5321807"/>
            <a:ext cx="16733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0">
                <a:solidFill>
                  <a:srgbClr val="748AA2"/>
                </a:solidFill>
                <a:latin typeface="Aptos"/>
              </a:rPr>
              <a:t>Low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3337560"/>
            <a:ext cx="5120640" cy="233172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172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29400" y="361188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3F8FC"/>
                </a:solidFill>
                <a:latin typeface="Aptos"/>
              </a:rPr>
              <a:t>Observed model evaluation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629400" y="4114800"/>
            <a:ext cx="1417320" cy="105156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172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629400" y="4114800"/>
            <a:ext cx="50292" cy="1051560"/>
          </a:xfrm>
          <a:prstGeom prst="rect">
            <a:avLst/>
          </a:prstGeom>
          <a:solidFill>
            <a:srgbClr val="38BDF8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30568" y="4279392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748AA2"/>
                </a:solidFill>
                <a:latin typeface="Aptos"/>
              </a:rPr>
              <a:t>MAE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0568" y="4572000"/>
            <a:ext cx="1097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3F8FC"/>
                </a:solidFill>
                <a:latin typeface="Aptos"/>
              </a:rPr>
              <a:t>7.54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83879" y="4114800"/>
            <a:ext cx="1417320" cy="105156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172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183879" y="4114800"/>
            <a:ext cx="50292" cy="1051560"/>
          </a:xfrm>
          <a:prstGeom prst="rect">
            <a:avLst/>
          </a:prstGeom>
          <a:solidFill>
            <a:srgbClr val="8B5CF6"/>
          </a:solidFill>
          <a:ln w="1016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85048" y="4279392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748AA2"/>
                </a:solidFill>
                <a:latin typeface="Aptos"/>
              </a:rPr>
              <a:t>RMSE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85048" y="4572000"/>
            <a:ext cx="1097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3F8FC"/>
                </a:solidFill>
                <a:latin typeface="Aptos"/>
              </a:rPr>
              <a:t>8.96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738360" y="4114800"/>
            <a:ext cx="1417320" cy="105156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172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738360" y="4114800"/>
            <a:ext cx="50292" cy="1051560"/>
          </a:xfrm>
          <a:prstGeom prst="rect">
            <a:avLst/>
          </a:prstGeom>
          <a:solidFill>
            <a:srgbClr val="2DD4BF"/>
          </a:solidFill>
          <a:ln w="1016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939528" y="4279392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748AA2"/>
                </a:solidFill>
                <a:latin typeface="Aptos"/>
              </a:rPr>
              <a:t>R²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39528" y="4572000"/>
            <a:ext cx="1097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3F8FC"/>
                </a:solidFill>
                <a:latin typeface="Aptos"/>
              </a:rPr>
              <a:t>0.56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6519672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48AA2"/>
                </a:solidFill>
                <a:latin typeface="Aptos"/>
              </a:rPr>
              <a:t>SUPPLYPRESCRIPT  •  SUPPLY CHAIN INTELLIGENCE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748AA2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Aptos"/>
              </a:rPr>
              <a:t>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3F8FC"/>
                </a:solidFill>
                <a:latin typeface="Aptos"/>
              </a:rPr>
              <a:t>Decision-support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48AA2"/>
                </a:solidFill>
                <a:latin typeface="Aptos"/>
              </a:rPr>
              <a:t>Rule-based risk, ML predictions, anomaly alerts and recommendations are brought together in one page.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3337560" cy="132588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2029968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3F8FC"/>
                </a:solidFill>
                <a:latin typeface="Aptos"/>
              </a:rPr>
              <a:t>Rule-Based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487168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748AA2"/>
                </a:solidFill>
                <a:latin typeface="Aptos"/>
              </a:rPr>
              <a:t>Transparent operational thresholds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828800"/>
            <a:ext cx="3337560" cy="132588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2029968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3F8FC"/>
                </a:solidFill>
                <a:latin typeface="Aptos"/>
              </a:rPr>
              <a:t>ML Risk Prediction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2487168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748AA2"/>
                </a:solidFill>
                <a:latin typeface="Aptos"/>
              </a:rPr>
              <a:t>Random Forest output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828800"/>
            <a:ext cx="3337560" cy="132588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1" y="2029968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3F8FC"/>
                </a:solidFill>
                <a:latin typeface="Aptos"/>
              </a:rPr>
              <a:t>Anomaly Alerts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1" y="2487168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748AA2"/>
                </a:solidFill>
                <a:latin typeface="Aptos"/>
              </a:rPr>
              <a:t>Inventory • shipping • cost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566160"/>
            <a:ext cx="3337560" cy="132588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3767328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3F8FC"/>
                </a:solidFill>
                <a:latin typeface="Aptos"/>
              </a:rPr>
              <a:t>Risk Factors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4224528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748AA2"/>
                </a:solidFill>
                <a:latin typeface="Aptos"/>
              </a:rPr>
              <a:t>Observed operational signals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3566160"/>
            <a:ext cx="3337560" cy="132588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07992" y="3767328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3F8FC"/>
                </a:solidFill>
                <a:latin typeface="Aptos"/>
              </a:rPr>
              <a:t>Priority Records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992" y="4224528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748AA2"/>
                </a:solidFill>
                <a:latin typeface="Aptos"/>
              </a:rPr>
              <a:t>Highest-risk SKUs first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3566160"/>
            <a:ext cx="3337560" cy="132588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57031" y="3767328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3F8FC"/>
                </a:solidFill>
                <a:latin typeface="Aptos"/>
              </a:rPr>
              <a:t>Recommendations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1" y="4224528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748AA2"/>
                </a:solidFill>
                <a:latin typeface="Aptos"/>
              </a:rPr>
              <a:t>Review actions for operations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9672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48AA2"/>
                </a:solidFill>
                <a:latin typeface="Aptos"/>
              </a:rPr>
              <a:t>SUPPLYPRESCRIPT  •  SUPPLY CHAIN INTELLIGENCE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748AA2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Aptos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3F8FC"/>
                </a:solidFill>
                <a:latin typeface="Aptos"/>
              </a:rPr>
              <a:t>What the current implementation delivers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48AA2"/>
                </a:solidFill>
                <a:latin typeface="Aptos"/>
              </a:rPr>
              <a:t>The supplied implementation is functional across the dashboard, APIs and ML risk service.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3337560" cy="137160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39112"/>
            <a:ext cx="822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38BDF8"/>
                </a:solidFill>
                <a:latin typeface="Aptos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084831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3F8FC"/>
                </a:solidFill>
                <a:latin typeface="Aptos"/>
              </a:rPr>
              <a:t>functional dashboard pages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874519"/>
            <a:ext cx="3337560" cy="137160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039112"/>
            <a:ext cx="822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8B5CF6"/>
                </a:solidFill>
                <a:latin typeface="Aptos"/>
              </a:rPr>
              <a:t>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0" y="2084831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3F8FC"/>
                </a:solidFill>
                <a:latin typeface="Aptos"/>
              </a:rPr>
              <a:t>records analyzed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874519"/>
            <a:ext cx="3337560" cy="137160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19" y="2039112"/>
            <a:ext cx="822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DD4BF"/>
                </a:solidFill>
                <a:latin typeface="Aptos"/>
              </a:rPr>
              <a:t>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40" y="2084831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3F8FC"/>
                </a:solidFill>
                <a:latin typeface="Aptos"/>
              </a:rPr>
              <a:t>dataset columns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703320"/>
            <a:ext cx="3337560" cy="137160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867911"/>
            <a:ext cx="822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59E0B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913632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3F8FC"/>
                </a:solidFill>
                <a:latin typeface="Aptos"/>
              </a:rPr>
              <a:t>risk layers: rules + ML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3703320"/>
            <a:ext cx="3337560" cy="137160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3867911"/>
            <a:ext cx="822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43F5E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3913632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3F8FC"/>
                </a:solidFill>
                <a:latin typeface="Aptos"/>
              </a:rPr>
              <a:t>anomaly domains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3703320"/>
            <a:ext cx="3337560" cy="137160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19" y="3867911"/>
            <a:ext cx="822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ACC15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3913632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3F8FC"/>
                </a:solidFill>
                <a:latin typeface="Aptos"/>
              </a:rPr>
              <a:t>ML API endpoints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9672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48AA2"/>
                </a:solidFill>
                <a:latin typeface="Aptos"/>
              </a:rPr>
              <a:t>SUPPLYPRESCRIPT  •  SUPPLY CHAIN INTELLIGENCE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748AA2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Aptos"/>
              </a:rPr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3F8FC"/>
                </a:solidFill>
                <a:latin typeface="Aptos"/>
              </a:rPr>
              <a:t>Potential next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48AA2"/>
                </a:solidFill>
                <a:latin typeface="Aptos"/>
              </a:rPr>
              <a:t>These are future directions, not claims about the current implementation.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10789920" cy="3840480"/>
          </a:xfrm>
          <a:prstGeom prst="roundRect">
            <a:avLst/>
          </a:prstGeom>
          <a:solidFill>
            <a:srgbClr val="0A1727"/>
          </a:solidFill>
          <a:ln w="10160">
            <a:solidFill>
              <a:srgbClr val="172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221992"/>
            <a:ext cx="4343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3F8FC"/>
                </a:solidFill>
                <a:latin typeface="Aptos"/>
              </a:rPr>
              <a:t>Prediction confidence and calibrated probabilities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224028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221992"/>
            <a:ext cx="4343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3F8FC"/>
                </a:solidFill>
                <a:latin typeface="Aptos"/>
              </a:rPr>
              <a:t>Role-based access and authentication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Aptos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182112"/>
            <a:ext cx="4343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3F8FC"/>
                </a:solidFill>
                <a:latin typeface="Aptos"/>
              </a:rPr>
              <a:t>Historical trend storage for time-based monitoring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320040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Aptos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182112"/>
            <a:ext cx="4343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3F8FC"/>
                </a:solidFill>
                <a:latin typeface="Aptos"/>
              </a:rPr>
              <a:t>Automated alerts / email or notification workflows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60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Aptos"/>
              </a:rP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142232"/>
            <a:ext cx="4343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3F8FC"/>
                </a:solidFill>
                <a:latin typeface="Aptos"/>
              </a:rPr>
              <a:t>Model monitoring and periodic retraining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4160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Aptos"/>
              </a:rP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142232"/>
            <a:ext cx="4343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F3F8FC"/>
                </a:solidFill>
                <a:latin typeface="Aptos"/>
              </a:rPr>
              <a:t>Cloud deployment and production observability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9672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48AA2"/>
                </a:solidFill>
                <a:latin typeface="Aptos"/>
              </a:rPr>
              <a:t>SUPPLYPRESCRIPT  •  SUPPLY CHAIN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748AA2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9144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F3F8FC"/>
                </a:solidFill>
                <a:latin typeface="Aptos"/>
              </a:rPr>
              <a:t>SupplyPrescript turns supply-chain records into a practical
analytics and risk decision layer.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80360"/>
            <a:ext cx="8961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748AA2"/>
                </a:solidFill>
                <a:latin typeface="Aptos"/>
              </a:rPr>
              <a:t>It combines operational dashboards, transparent risk rules,
statistical anomaly detection and Random Forest predictions
while keeping the visual experience focused and readable.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4709160"/>
            <a:ext cx="1005840" cy="283464"/>
          </a:xfrm>
          <a:prstGeom prst="roundRect">
            <a:avLst/>
          </a:prstGeom>
          <a:solidFill>
            <a:srgbClr val="09192A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718304"/>
            <a:ext cx="100584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38BDF8"/>
                </a:solidFill>
                <a:latin typeface="Aptos"/>
              </a:rPr>
              <a:t>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4709160"/>
            <a:ext cx="731520" cy="283464"/>
          </a:xfrm>
          <a:prstGeom prst="roundRect">
            <a:avLst/>
          </a:prstGeom>
          <a:solidFill>
            <a:srgbClr val="09192A"/>
          </a:solidFill>
          <a:ln w="1016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4718304"/>
            <a:ext cx="7315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43F5E"/>
                </a:solidFill>
                <a:latin typeface="Aptos"/>
              </a:rPr>
              <a:t>Risk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80" y="4709160"/>
            <a:ext cx="594360" cy="283464"/>
          </a:xfrm>
          <a:prstGeom prst="roundRect">
            <a:avLst/>
          </a:prstGeom>
          <a:solidFill>
            <a:srgbClr val="09192A"/>
          </a:solidFill>
          <a:ln w="1016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80" y="4718304"/>
            <a:ext cx="5943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8B5CF6"/>
                </a:solidFill>
                <a:latin typeface="Aptos"/>
              </a:rPr>
              <a:t>ML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4709160"/>
            <a:ext cx="1325880" cy="283464"/>
          </a:xfrm>
          <a:prstGeom prst="roundRect">
            <a:avLst/>
          </a:prstGeom>
          <a:solidFill>
            <a:srgbClr val="09192A"/>
          </a:solidFill>
          <a:ln w="1016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4718304"/>
            <a:ext cx="13258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2DD4BF"/>
                </a:solidFill>
                <a:latin typeface="Aptos"/>
              </a:rPr>
              <a:t>Decision Support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53212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3F8FC"/>
                </a:solidFill>
                <a:latin typeface="Aptos"/>
              </a:rPr>
              <a:t>Thank you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48AA2"/>
                </a:solidFill>
                <a:latin typeface="Aptos"/>
              </a:rPr>
              <a:t>SUPPLYPRESCRIPT  •  SUPPLY CHAIN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748AA2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